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charts/chart5.xml" ContentType="application/vnd.openxmlformats-officedocument.drawingml.chart+xml"/>
  <Override PartName="/ppt/notesSlides/notesSlide9.xml" ContentType="application/vnd.openxmlformats-officedocument.presentationml.notesSlide+xml"/>
  <Override PartName="/ppt/charts/chart6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9" r:id="rId13"/>
    <p:sldId id="270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3379CE5D-8F94-8424-EC96-0E6885E310FE}">
          <p14:sldIdLst>
            <p14:sldId id="256"/>
            <p14:sldId id="257"/>
            <p14:sldId id="258"/>
            <p14:sldId id="259"/>
          </p14:sldIdLst>
        </p14:section>
        <p14:section name="Analysis" id="{721D39A5-E816-1D6F-3B39-20AF3B4D531E}">
          <p14:sldIdLst>
            <p14:sldId id="260"/>
            <p14:sldId id="261"/>
            <p14:sldId id="262"/>
            <p14:sldId id="263"/>
          </p14:sldIdLst>
        </p14:section>
        <p14:section name="Product" id="{44EB729E-96D6-FA95-2EED-364BA96A067F}">
          <p14:sldIdLst>
            <p14:sldId id="264"/>
            <p14:sldId id="265"/>
          </p14:sldIdLst>
        </p14:section>
        <p14:section name="Outlook" id="{217E7510-CB67-4D7C-1348-FA5787220394}">
          <p14:sldIdLst/>
        </p14:section>
        <p14:section name="Wrap-up" id="{5042F954-60FF-345F-3DD2-5A21B0099298}">
          <p14:sldIdLst>
            <p14:sldId id="268"/>
            <p14:sldId id="269"/>
          </p14:sldIdLst>
        </p14:section>
        <p14:section name="Close" id="{2FE43533-8E36-292C-A323-842F36F9D254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0" autoAdjust="0"/>
    <p:restoredTop sz="94610"/>
  </p:normalViewPr>
  <p:slideViewPr>
    <p:cSldViewPr snapToGrid="0" snapToObjects="1">
      <p:cViewPr varScale="1">
        <p:scale>
          <a:sx n="36" d="100"/>
          <a:sy n="36" d="100"/>
        </p:scale>
        <p:origin x="932" y="2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1B4B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E1B4B"/>
                </a:solidFill>
                <a:latin typeface="+mn-lt"/>
              </a:rPr>
              <a:t>Hourly: median $/hr with keyword (overall 22.5)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Median $/hr</c:v>
                </c:pt>
              </c:strCache>
            </c:strRef>
          </c:tx>
          <c:spPr>
            <a:solidFill>
              <a:srgbClr val="4F46E5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F2937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tax</c:v>
                </c:pt>
                <c:pt idx="1">
                  <c:v>consultation</c:v>
                </c:pt>
                <c:pt idx="2">
                  <c:v>videographer</c:v>
                </c:pt>
                <c:pt idx="3">
                  <c:v>consultant</c:v>
                </c:pt>
                <c:pt idx="4">
                  <c:v>engineer</c:v>
                </c:pt>
                <c:pt idx="5">
                  <c:v>lead</c:v>
                </c:pt>
                <c:pt idx="6">
                  <c:v>assistant</c:v>
                </c:pt>
                <c:pt idx="7">
                  <c:v>cold</c:v>
                </c:pt>
                <c:pt idx="8">
                  <c:v>virtual</c:v>
                </c:pt>
                <c:pt idx="9">
                  <c:v>va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50</c:v>
                </c:pt>
                <c:pt idx="1">
                  <c:v>48.5</c:v>
                </c:pt>
                <c:pt idx="2">
                  <c:v>42.5</c:v>
                </c:pt>
                <c:pt idx="3">
                  <c:v>40</c:v>
                </c:pt>
                <c:pt idx="4">
                  <c:v>30</c:v>
                </c:pt>
                <c:pt idx="5">
                  <c:v>10</c:v>
                </c:pt>
                <c:pt idx="6">
                  <c:v>8.5</c:v>
                </c:pt>
                <c:pt idx="7">
                  <c:v>8</c:v>
                </c:pt>
                <c:pt idx="8">
                  <c:v>7.5</c:v>
                </c:pt>
                <c:pt idx="9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B39-430E-AD2C-EAD84D4B0F5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7415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1B4B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E1B4B"/>
                </a:solidFill>
                <a:latin typeface="+mn-lt"/>
              </a:rPr>
              <a:t>Fixed: median $ with keyword (overall 100)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Median $</c:v>
                </c:pt>
              </c:strCache>
            </c:strRef>
          </c:tx>
          <c:spPr>
            <a:solidFill>
              <a:srgbClr val="DB2777"/>
            </a:solidFill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F2937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expensify</c:v>
                </c:pt>
                <c:pt idx="1">
                  <c:v>development</c:v>
                </c:pt>
                <c:pt idx="2">
                  <c:v>sales</c:v>
                </c:pt>
                <c:pt idx="3">
                  <c:v>build</c:v>
                </c:pt>
                <c:pt idx="4">
                  <c:v>developer</c:v>
                </c:pt>
                <c:pt idx="5">
                  <c:v>logo</c:v>
                </c:pt>
                <c:pt idx="6">
                  <c:v>need</c:v>
                </c:pt>
                <c:pt idx="7">
                  <c:v>fix</c:v>
                </c:pt>
                <c:pt idx="8">
                  <c:v>recording</c:v>
                </c:pt>
                <c:pt idx="9">
                  <c:v>speakers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500</c:v>
                </c:pt>
                <c:pt idx="1">
                  <c:v>300</c:v>
                </c:pt>
                <c:pt idx="2">
                  <c:v>250</c:v>
                </c:pt>
                <c:pt idx="3">
                  <c:v>200</c:v>
                </c:pt>
                <c:pt idx="4">
                  <c:v>150</c:v>
                </c:pt>
                <c:pt idx="5">
                  <c:v>50</c:v>
                </c:pt>
                <c:pt idx="6">
                  <c:v>50</c:v>
                </c:pt>
                <c:pt idx="7">
                  <c:v>30</c:v>
                </c:pt>
                <c:pt idx="8">
                  <c:v>15</c:v>
                </c:pt>
                <c:pt idx="9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F1B-4852-9188-B502B7A0CB3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7415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1B4B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E1B4B"/>
                </a:solidFill>
                <a:latin typeface="+mn-lt"/>
              </a:rPr>
              <a:t>Change in share of postings, week 1 to week 5 (%)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change %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5CC-4E43-BCA9-FECEE5DA3A17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25CC-4E43-BCA9-FECEE5DA3A17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25CC-4E43-BCA9-FECEE5DA3A17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25CC-4E43-BCA9-FECEE5DA3A17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25CC-4E43-BCA9-FECEE5DA3A17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25CC-4E43-BCA9-FECEE5DA3A17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25CC-4E43-BCA9-FECEE5DA3A17}"/>
              </c:ext>
            </c:extLst>
          </c:dPt>
          <c:dPt>
            <c:idx val="7"/>
            <c:invertIfNegative val="0"/>
            <c:bubble3D val="0"/>
            <c:spPr>
              <a:solidFill>
                <a:srgbClr val="E11D4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25CC-4E43-BCA9-FECEE5DA3A17}"/>
              </c:ext>
            </c:extLst>
          </c:dPt>
          <c:dPt>
            <c:idx val="8"/>
            <c:invertIfNegative val="0"/>
            <c:bubble3D val="0"/>
            <c:spPr>
              <a:solidFill>
                <a:srgbClr val="E11D4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25CC-4E43-BCA9-FECEE5DA3A17}"/>
              </c:ext>
            </c:extLst>
          </c:dPt>
          <c:dPt>
            <c:idx val="9"/>
            <c:invertIfNegative val="0"/>
            <c:bubble3D val="0"/>
            <c:spPr>
              <a:solidFill>
                <a:srgbClr val="E11D4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25CC-4E43-BCA9-FECEE5DA3A17}"/>
              </c:ext>
            </c:extLst>
          </c:dPt>
          <c:dPt>
            <c:idx val="10"/>
            <c:invertIfNegative val="0"/>
            <c:bubble3D val="0"/>
            <c:spPr>
              <a:solidFill>
                <a:srgbClr val="E11D4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5-25CC-4E43-BCA9-FECEE5DA3A17}"/>
              </c:ext>
            </c:extLst>
          </c:dPt>
          <c:dPt>
            <c:idx val="11"/>
            <c:invertIfNegative val="0"/>
            <c:bubble3D val="0"/>
            <c:spPr>
              <a:solidFill>
                <a:srgbClr val="E11D4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7-25CC-4E43-BCA9-FECEE5DA3A17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F2937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Customer Support</c:v>
                </c:pt>
                <c:pt idx="1">
                  <c:v>Video &amp; Audio</c:v>
                </c:pt>
                <c:pt idx="2">
                  <c:v>AI &amp; Automation</c:v>
                </c:pt>
                <c:pt idx="3">
                  <c:v>Web &amp; Software Dev</c:v>
                </c:pt>
                <c:pt idx="4">
                  <c:v>Social Media</c:v>
                </c:pt>
                <c:pt idx="5">
                  <c:v>Design &amp; Creative</c:v>
                </c:pt>
                <c:pt idx="6">
                  <c:v>Other</c:v>
                </c:pt>
                <c:pt idx="7">
                  <c:v>Marketing &amp; SEO</c:v>
                </c:pt>
                <c:pt idx="8">
                  <c:v>Sales &amp; Lead Gen</c:v>
                </c:pt>
                <c:pt idx="9">
                  <c:v>Data &amp; Analytics</c:v>
                </c:pt>
                <c:pt idx="10">
                  <c:v>Admin &amp; Virtual Assistant</c:v>
                </c:pt>
                <c:pt idx="11">
                  <c:v>Writing &amp; Translation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16.8</c:v>
                </c:pt>
                <c:pt idx="1">
                  <c:v>5.4</c:v>
                </c:pt>
                <c:pt idx="2">
                  <c:v>4.2</c:v>
                </c:pt>
                <c:pt idx="3">
                  <c:v>2</c:v>
                </c:pt>
                <c:pt idx="4">
                  <c:v>1.8</c:v>
                </c:pt>
                <c:pt idx="5">
                  <c:v>1.6</c:v>
                </c:pt>
                <c:pt idx="6">
                  <c:v>0.8</c:v>
                </c:pt>
                <c:pt idx="7">
                  <c:v>-0.5</c:v>
                </c:pt>
                <c:pt idx="8">
                  <c:v>-1.6</c:v>
                </c:pt>
                <c:pt idx="9">
                  <c:v>-5.3</c:v>
                </c:pt>
                <c:pt idx="10">
                  <c:v>-5.9</c:v>
                </c:pt>
                <c:pt idx="11">
                  <c:v>-12.7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8-25CC-4E43-BCA9-FECEE5DA3A1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7415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1B4B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E1B4B"/>
                </a:solidFill>
                <a:latin typeface="+mn-lt"/>
              </a:rPr>
              <a:t>Held-out MAPE (%), lower is better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MAPE %</c:v>
                </c:pt>
              </c:strCache>
            </c:strRef>
          </c:tx>
          <c:spPr>
            <a:solidFill>
              <a:srgbClr val="D9770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040-468A-8043-E0C293B5A349}"/>
              </c:ext>
            </c:extLst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040-468A-8043-E0C293B5A349}"/>
              </c:ext>
            </c:extLst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040-468A-8043-E0C293B5A349}"/>
              </c:ext>
            </c:extLst>
          </c:dPt>
          <c:dPt>
            <c:idx val="3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040-468A-8043-E0C293B5A349}"/>
              </c:ext>
            </c:extLst>
          </c:dPt>
          <c:dPt>
            <c:idx val="4"/>
            <c:invertIfNegative val="0"/>
            <c:bubble3D val="0"/>
            <c:spPr>
              <a:solidFill>
                <a:srgbClr val="7C3AE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6040-468A-8043-E0C293B5A349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F2937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Seasonal naive</c:v>
                </c:pt>
                <c:pt idx="1">
                  <c:v>Ridge</c:v>
                </c:pt>
                <c:pt idx="2">
                  <c:v>Grad. boosting</c:v>
                </c:pt>
                <c:pt idx="3">
                  <c:v>Random forest</c:v>
                </c:pt>
                <c:pt idx="4">
                  <c:v>Ensemble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8.3000000000000007</c:v>
                </c:pt>
                <c:pt idx="1">
                  <c:v>10.1</c:v>
                </c:pt>
                <c:pt idx="2">
                  <c:v>11.5</c:v>
                </c:pt>
                <c:pt idx="3">
                  <c:v>11.1</c:v>
                </c:pt>
                <c:pt idx="4">
                  <c:v>8.5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6040-468A-8043-E0C293B5A34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7415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1B4B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E1B4B"/>
                </a:solidFill>
                <a:latin typeface="+mn-lt"/>
              </a:rPr>
              <a:t>Median $/hr by country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Median $/hr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F2937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Sheet1!$A$2:$A$17</c:f>
              <c:strCache>
                <c:ptCount val="16"/>
                <c:pt idx="0">
                  <c:v>South Korea</c:v>
                </c:pt>
                <c:pt idx="1">
                  <c:v>Philippines</c:v>
                </c:pt>
                <c:pt idx="2">
                  <c:v>Japan</c:v>
                </c:pt>
                <c:pt idx="3">
                  <c:v>India</c:v>
                </c:pt>
                <c:pt idx="4">
                  <c:v>Pakistan</c:v>
                </c:pt>
                <c:pt idx="5">
                  <c:v>China</c:v>
                </c:pt>
                <c:pt idx="6">
                  <c:v>Bangladesh</c:v>
                </c:pt>
                <c:pt idx="7">
                  <c:v>Australia</c:v>
                </c:pt>
                <c:pt idx="8">
                  <c:v>Nigeria</c:v>
                </c:pt>
                <c:pt idx="9">
                  <c:v>Netherlands</c:v>
                </c:pt>
                <c:pt idx="10">
                  <c:v>Poland</c:v>
                </c:pt>
                <c:pt idx="11">
                  <c:v>Turkey</c:v>
                </c:pt>
                <c:pt idx="12">
                  <c:v>Denmark</c:v>
                </c:pt>
                <c:pt idx="13">
                  <c:v>Saudi Arabia</c:v>
                </c:pt>
                <c:pt idx="14">
                  <c:v>Kenya</c:v>
                </c:pt>
                <c:pt idx="15">
                  <c:v>Vietnam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10</c:v>
                </c:pt>
                <c:pt idx="1">
                  <c:v>11</c:v>
                </c:pt>
                <c:pt idx="2">
                  <c:v>15</c:v>
                </c:pt>
                <c:pt idx="3">
                  <c:v>18.5</c:v>
                </c:pt>
                <c:pt idx="4">
                  <c:v>18.5</c:v>
                </c:pt>
                <c:pt idx="5">
                  <c:v>19</c:v>
                </c:pt>
                <c:pt idx="6">
                  <c:v>20</c:v>
                </c:pt>
                <c:pt idx="7">
                  <c:v>20</c:v>
                </c:pt>
                <c:pt idx="8">
                  <c:v>20</c:v>
                </c:pt>
                <c:pt idx="9">
                  <c:v>20</c:v>
                </c:pt>
                <c:pt idx="10">
                  <c:v>25</c:v>
                </c:pt>
                <c:pt idx="11">
                  <c:v>25</c:v>
                </c:pt>
                <c:pt idx="12">
                  <c:v>25</c:v>
                </c:pt>
                <c:pt idx="13">
                  <c:v>25</c:v>
                </c:pt>
                <c:pt idx="14">
                  <c:v>26.5</c:v>
                </c:pt>
                <c:pt idx="15">
                  <c:v>27.5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48F-46BA-AD34-C90625E4251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7415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1B4B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E1B4B"/>
                </a:solidFill>
                <a:latin typeface="+mn-lt"/>
              </a:rPr>
              <a:t>Precision@10 (same-category hits)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Precision@10</c:v>
                </c:pt>
              </c:strCache>
            </c:strRef>
          </c:tx>
          <c:spPr>
            <a:solidFill>
              <a:srgbClr val="9CA3A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7E3-4BE7-A5D1-9A88667FACBF}"/>
              </c:ext>
            </c:extLst>
          </c:dPt>
          <c:dPt>
            <c:idx val="1"/>
            <c:invertIfNegative val="0"/>
            <c:bubble3D val="0"/>
            <c:spPr>
              <a:solidFill>
                <a:srgbClr val="7C3AE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7E3-4BE7-A5D1-9A88667FACBF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F2937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Random</c:v>
                </c:pt>
                <c:pt idx="1">
                  <c:v>Engine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0.13</c:v>
                </c:pt>
                <c:pt idx="1">
                  <c:v>0.64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7E3-4BE7-A5D1-9A88667FACB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7415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8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3865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_DARK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Nexthikes IT Solution  |  Job Market Analysis and Recommendation System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640080"/>
            <a:ext cx="3931920" cy="3931920"/>
          </a:xfrm>
          <a:prstGeom prst="ellipse">
            <a:avLst/>
          </a:prstGeom>
          <a:solidFill>
            <a:srgbClr val="DB2777">
              <a:alpha val="75000"/>
            </a:srgbClr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09760" y="3291840"/>
            <a:ext cx="3108960" cy="3108960"/>
          </a:xfrm>
          <a:prstGeom prst="ellipse">
            <a:avLst/>
          </a:prstGeom>
          <a:solidFill>
            <a:srgbClr val="D97706">
              <a:alpha val="80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223760" y="4114800"/>
            <a:ext cx="2377440" cy="2377440"/>
          </a:xfrm>
          <a:prstGeom prst="ellipse">
            <a:avLst/>
          </a:prstGeom>
          <a:solidFill>
            <a:srgbClr val="0D9488">
              <a:alpha val="8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332720" y="228600"/>
            <a:ext cx="1371600" cy="1371600"/>
          </a:xfrm>
          <a:prstGeom prst="ellipse">
            <a:avLst/>
          </a:prstGeom>
          <a:solidFill>
            <a:srgbClr val="7C3AED">
              <a:alpha val="90000"/>
            </a:srgbClr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6" name="Image 0" descr="Chart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0" y="1828800"/>
            <a:ext cx="1554480" cy="1554480"/>
          </a:xfrm>
          <a:prstGeom prst="rect">
            <a:avLst/>
          </a:prstGeom>
        </p:spPr>
      </p:pic>
      <p:pic>
        <p:nvPicPr>
          <p:cNvPr id="7" name="Image 1" descr="Search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4663440"/>
            <a:ext cx="914400" cy="914400"/>
          </a:xfrm>
          <a:prstGeom prst="rect">
            <a:avLst/>
          </a:prstGeom>
        </p:spPr>
      </p:pic>
      <p:pic>
        <p:nvPicPr>
          <p:cNvPr id="8" name="Image 2" descr="Users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0" y="4206240"/>
            <a:ext cx="1097280" cy="109728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640080" y="996696"/>
            <a:ext cx="201168" cy="20116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960120" y="548640"/>
            <a:ext cx="752392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kern="0" spc="300" dirty="0">
                <a:solidFill>
                  <a:srgbClr val="FBBF24"/>
                </a:solidFill>
              </a:rPr>
              <a:t>NEXTHIKES IT SOLUTION</a:t>
            </a:r>
            <a:endParaRPr lang="en-US" sz="4400" dirty="0"/>
          </a:p>
        </p:txBody>
      </p:sp>
      <p:sp>
        <p:nvSpPr>
          <p:cNvPr id="11" name="Text 6"/>
          <p:cNvSpPr txBox="1"/>
          <p:nvPr/>
        </p:nvSpPr>
        <p:spPr>
          <a:xfrm>
            <a:off x="640080" y="1737360"/>
            <a:ext cx="6858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</a:rPr>
              <a:t>Job Market Analysis and Recommendation System</a:t>
            </a:r>
            <a:endParaRPr lang="en-US" sz="4600" dirty="0"/>
          </a:p>
        </p:txBody>
      </p:sp>
      <p:sp>
        <p:nvSpPr>
          <p:cNvPr id="12" name="Text 7"/>
          <p:cNvSpPr txBox="1"/>
          <p:nvPr/>
        </p:nvSpPr>
        <p:spPr>
          <a:xfrm>
            <a:off x="640080" y="416052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C7D2FE"/>
                </a:solidFill>
              </a:rPr>
              <a:t>Eight analyses, a recommendation API, a monthly dashboard and Docker deployment, built on 244,828 Upwork postings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640080" y="5349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300" dirty="0">
                <a:solidFill>
                  <a:srgbClr val="A5B4FC"/>
                </a:solidFill>
              </a:rPr>
              <a:t>PRESENTED BY</a:t>
            </a:r>
            <a:endParaRPr lang="en-US" sz="1400" dirty="0"/>
          </a:p>
        </p:txBody>
      </p:sp>
      <p:sp>
        <p:nvSpPr>
          <p:cNvPr id="14" name="Text 9"/>
          <p:cNvSpPr txBox="1"/>
          <p:nvPr/>
        </p:nvSpPr>
        <p:spPr>
          <a:xfrm>
            <a:off x="594360" y="55778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Nidhi Silmana</a:t>
            </a:r>
            <a:endParaRPr lang="en-US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00200" y="29260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</a:rPr>
              <a:t>Project objective</a:t>
            </a:r>
            <a:endParaRPr lang="en-US" sz="3400" dirty="0"/>
          </a:p>
        </p:txBody>
      </p:sp>
      <p:sp>
        <p:nvSpPr>
          <p:cNvPr id="3" name="Title badge"/>
          <p:cNvSpPr/>
          <p:nvPr/>
        </p:nvSpPr>
        <p:spPr>
          <a:xfrm>
            <a:off x="548640" y="329184"/>
            <a:ext cx="822960" cy="82296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4" name="Image 0" descr="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530352"/>
            <a:ext cx="420624" cy="42062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00200" y="102412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Understand the job market, then help job seekers act on it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1645920"/>
            <a:ext cx="3520440" cy="3246120"/>
          </a:xfrm>
          <a:prstGeom prst="roundRect">
            <a:avLst>
              <a:gd name="adj" fmla="val 3380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22960" y="1874520"/>
            <a:ext cx="822960" cy="82296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8" name="Image 1" descr="Analyze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" y="2075688"/>
            <a:ext cx="420624" cy="42062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783080" y="18745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F46E5"/>
                </a:solidFill>
              </a:rPr>
              <a:t>Analyze</a:t>
            </a:r>
            <a:endParaRPr lang="en-US" sz="26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2926080"/>
            <a:ext cx="301752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Job title keywords vs salary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Emerging job categories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Hourly rates by country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4297680" y="1645920"/>
            <a:ext cx="3520440" cy="3246120"/>
          </a:xfrm>
          <a:prstGeom prst="roundRect">
            <a:avLst>
              <a:gd name="adj" fmla="val 3380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572000" y="1874520"/>
            <a:ext cx="822960" cy="822960"/>
          </a:xfrm>
          <a:prstGeom prst="ellipse">
            <a:avLst/>
          </a:prstGeom>
          <a:solidFill>
            <a:srgbClr val="DB2777"/>
          </a:solidFill>
          <a:ln/>
        </p:spPr>
      </p:sp>
      <p:pic>
        <p:nvPicPr>
          <p:cNvPr id="13" name="Image 2" descr="Predict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3168" y="2075688"/>
            <a:ext cx="420624" cy="42062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532120" y="18745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B2777"/>
                </a:solidFill>
              </a:rPr>
              <a:t>Predict</a:t>
            </a:r>
            <a:endParaRPr lang="en-US" sz="2600" dirty="0"/>
          </a:p>
        </p:txBody>
      </p:sp>
      <p:sp>
        <p:nvSpPr>
          <p:cNvPr id="15" name="Text 10"/>
          <p:cNvSpPr txBox="1"/>
          <p:nvPr/>
        </p:nvSpPr>
        <p:spPr>
          <a:xfrm>
            <a:off x="4572000" y="2926080"/>
            <a:ext cx="301752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High-demand roles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Remote work trends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Future market scenarios</a:t>
            </a:r>
            <a:endParaRPr lang="en-US" sz="1800" dirty="0"/>
          </a:p>
        </p:txBody>
      </p:sp>
      <p:sp>
        <p:nvSpPr>
          <p:cNvPr id="16" name="Shape 11"/>
          <p:cNvSpPr/>
          <p:nvPr/>
        </p:nvSpPr>
        <p:spPr>
          <a:xfrm>
            <a:off x="8046720" y="1645920"/>
            <a:ext cx="3520440" cy="3246120"/>
          </a:xfrm>
          <a:prstGeom prst="roundRect">
            <a:avLst>
              <a:gd name="adj" fmla="val 3380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321040" y="1874520"/>
            <a:ext cx="822960" cy="82296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8" name="Image 3" descr="Recommend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2208" y="2075688"/>
            <a:ext cx="420624" cy="42062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281160" y="18745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9488"/>
                </a:solidFill>
              </a:rPr>
              <a:t>Recommend</a:t>
            </a:r>
            <a:endParaRPr lang="en-US" sz="2600" dirty="0"/>
          </a:p>
        </p:txBody>
      </p:sp>
      <p:sp>
        <p:nvSpPr>
          <p:cNvPr id="20" name="Text 14"/>
          <p:cNvSpPr txBox="1"/>
          <p:nvPr/>
        </p:nvSpPr>
        <p:spPr>
          <a:xfrm>
            <a:off x="8321040" y="2926080"/>
            <a:ext cx="301752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Personalized job matches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Flask API with documentation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Web interface and monthly dashboard</a:t>
            </a:r>
            <a:endParaRPr lang="en-US" sz="1800" dirty="0"/>
          </a:p>
        </p:txBody>
      </p:sp>
      <p:sp>
        <p:nvSpPr>
          <p:cNvPr id="21" name="Shape 15"/>
          <p:cNvSpPr/>
          <p:nvPr/>
        </p:nvSpPr>
        <p:spPr>
          <a:xfrm>
            <a:off x="548640" y="5166360"/>
            <a:ext cx="11064240" cy="960120"/>
          </a:xfrm>
          <a:prstGeom prst="roundRect">
            <a:avLst>
              <a:gd name="adj" fmla="val 11429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pic>
        <p:nvPicPr>
          <p:cNvPr id="22" name="Image 4" descr="Database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680" y="5458968"/>
            <a:ext cx="384048" cy="384048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463040" y="5166360"/>
            <a:ext cx="9966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BBF24"/>
                </a:solidFill>
              </a:rPr>
              <a:t>Dataset: </a:t>
            </a:r>
            <a:r>
              <a:rPr lang="en-US" sz="1600" dirty="0">
                <a:solidFill>
                  <a:srgbClr val="FFFFFF"/>
                </a:solidFill>
              </a:rPr>
              <a:t>244,828 Upwork postings from 213 countries, with dense coverage from 13 Feb to 24 Mar 2024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00200" y="29260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</a:rPr>
              <a:t>Eight tasks, one pipeline</a:t>
            </a:r>
            <a:endParaRPr lang="en-US" sz="3400" dirty="0"/>
          </a:p>
        </p:txBody>
      </p:sp>
      <p:sp>
        <p:nvSpPr>
          <p:cNvPr id="3" name="Title badge"/>
          <p:cNvSpPr/>
          <p:nvPr/>
        </p:nvSpPr>
        <p:spPr>
          <a:xfrm>
            <a:off x="548640" y="329184"/>
            <a:ext cx="822960" cy="822960"/>
          </a:xfrm>
          <a:prstGeom prst="ellipse">
            <a:avLst/>
          </a:prstGeom>
          <a:solidFill>
            <a:srgbClr val="DB2777"/>
          </a:solidFill>
          <a:ln/>
        </p:spPr>
      </p:sp>
      <p:pic>
        <p:nvPicPr>
          <p:cNvPr id="4" name="Image 0" descr="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530352"/>
            <a:ext cx="420624" cy="42062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00200" y="102412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Every task from the project brief is delivered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2606040" cy="2057400"/>
          </a:xfrm>
          <a:prstGeom prst="roundRect">
            <a:avLst>
              <a:gd name="adj" fmla="val 5333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77240" y="1920240"/>
            <a:ext cx="685800" cy="68580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77240" y="19202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1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697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1B4B"/>
                </a:solidFill>
              </a:rPr>
              <a:t>Keywords vs pay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154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Job title words and salary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355848" y="1691640"/>
            <a:ext cx="2606040" cy="2057400"/>
          </a:xfrm>
          <a:prstGeom prst="roundRect">
            <a:avLst>
              <a:gd name="adj" fmla="val 5333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584448" y="1920240"/>
            <a:ext cx="685800" cy="685800"/>
          </a:xfrm>
          <a:prstGeom prst="ellipse">
            <a:avLst/>
          </a:prstGeom>
          <a:solidFill>
            <a:srgbClr val="DB2777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584448" y="19202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2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3584448" y="2697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1B4B"/>
                </a:solidFill>
              </a:rPr>
              <a:t>Emerging categories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3584448" y="3154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Posting growth over time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163056" y="1691640"/>
            <a:ext cx="2606040" cy="2057400"/>
          </a:xfrm>
          <a:prstGeom prst="roundRect">
            <a:avLst>
              <a:gd name="adj" fmla="val 5333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391656" y="1920240"/>
            <a:ext cx="685800" cy="68580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391656" y="19202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3</a:t>
            </a:r>
            <a:endParaRPr lang="en-US" sz="2600" dirty="0"/>
          </a:p>
        </p:txBody>
      </p:sp>
      <p:sp>
        <p:nvSpPr>
          <p:cNvPr id="19" name="Text 16"/>
          <p:cNvSpPr txBox="1"/>
          <p:nvPr/>
        </p:nvSpPr>
        <p:spPr>
          <a:xfrm>
            <a:off x="6391656" y="2697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1B4B"/>
                </a:solidFill>
              </a:rPr>
              <a:t>Demand forecast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6391656" y="3154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Predict high-demand roles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8970264" y="1691640"/>
            <a:ext cx="2606040" cy="2057400"/>
          </a:xfrm>
          <a:prstGeom prst="roundRect">
            <a:avLst>
              <a:gd name="adj" fmla="val 5333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9198864" y="1920240"/>
            <a:ext cx="685800" cy="6858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9198864" y="19202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4</a:t>
            </a:r>
            <a:endParaRPr lang="en-US" sz="2600" dirty="0"/>
          </a:p>
        </p:txBody>
      </p:sp>
      <p:sp>
        <p:nvSpPr>
          <p:cNvPr id="24" name="Text 21"/>
          <p:cNvSpPr txBox="1"/>
          <p:nvPr/>
        </p:nvSpPr>
        <p:spPr>
          <a:xfrm>
            <a:off x="9198864" y="2697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1B4B"/>
                </a:solidFill>
              </a:rPr>
              <a:t>Hourly rates</a:t>
            </a:r>
            <a:endParaRPr lang="en-US" sz="2000" dirty="0"/>
          </a:p>
        </p:txBody>
      </p:sp>
      <p:sp>
        <p:nvSpPr>
          <p:cNvPr id="25" name="Text 22"/>
          <p:cNvSpPr txBox="1"/>
          <p:nvPr/>
        </p:nvSpPr>
        <p:spPr>
          <a:xfrm>
            <a:off x="9198864" y="3154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Compared across countries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548640" y="3977640"/>
            <a:ext cx="2606040" cy="2057400"/>
          </a:xfrm>
          <a:prstGeom prst="roundRect">
            <a:avLst>
              <a:gd name="adj" fmla="val 5333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77240" y="4206240"/>
            <a:ext cx="685800" cy="6858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777240" y="42062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5</a:t>
            </a:r>
            <a:endParaRPr lang="en-US" sz="2600" dirty="0"/>
          </a:p>
        </p:txBody>
      </p:sp>
      <p:sp>
        <p:nvSpPr>
          <p:cNvPr id="29" name="Text 26"/>
          <p:cNvSpPr txBox="1"/>
          <p:nvPr/>
        </p:nvSpPr>
        <p:spPr>
          <a:xfrm>
            <a:off x="777240" y="4983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1B4B"/>
                </a:solidFill>
              </a:rPr>
              <a:t>Recommender</a:t>
            </a:r>
            <a:endParaRPr lang="en-US" sz="2000" dirty="0"/>
          </a:p>
        </p:txBody>
      </p:sp>
      <p:sp>
        <p:nvSpPr>
          <p:cNvPr id="30" name="Text 27"/>
          <p:cNvSpPr txBox="1"/>
          <p:nvPr/>
        </p:nvSpPr>
        <p:spPr>
          <a:xfrm>
            <a:off x="777240" y="5440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Engine, API and UI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3355848" y="3977640"/>
            <a:ext cx="2606040" cy="2057400"/>
          </a:xfrm>
          <a:prstGeom prst="roundRect">
            <a:avLst>
              <a:gd name="adj" fmla="val 5333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584448" y="4206240"/>
            <a:ext cx="685800" cy="685800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3584448" y="42062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6</a:t>
            </a:r>
            <a:endParaRPr lang="en-US" sz="2600" dirty="0"/>
          </a:p>
        </p:txBody>
      </p:sp>
      <p:sp>
        <p:nvSpPr>
          <p:cNvPr id="34" name="Text 31"/>
          <p:cNvSpPr txBox="1"/>
          <p:nvPr/>
        </p:nvSpPr>
        <p:spPr>
          <a:xfrm>
            <a:off x="3584448" y="4983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1B4B"/>
                </a:solidFill>
              </a:rPr>
              <a:t>Monthly dashboard</a:t>
            </a:r>
            <a:endParaRPr lang="en-US" sz="2000" dirty="0"/>
          </a:p>
        </p:txBody>
      </p:sp>
      <p:sp>
        <p:nvSpPr>
          <p:cNvPr id="35" name="Text 32"/>
          <p:cNvSpPr txBox="1"/>
          <p:nvPr/>
        </p:nvSpPr>
        <p:spPr>
          <a:xfrm>
            <a:off x="3584448" y="5440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Auto-updating trends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6163056" y="3977640"/>
            <a:ext cx="2606040" cy="2057400"/>
          </a:xfrm>
          <a:prstGeom prst="roundRect">
            <a:avLst>
              <a:gd name="adj" fmla="val 5333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391656" y="4206240"/>
            <a:ext cx="685800" cy="6858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6391656" y="42062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7</a:t>
            </a:r>
            <a:endParaRPr lang="en-US" sz="2600" dirty="0"/>
          </a:p>
        </p:txBody>
      </p:sp>
      <p:sp>
        <p:nvSpPr>
          <p:cNvPr id="39" name="Text 36"/>
          <p:cNvSpPr txBox="1"/>
          <p:nvPr/>
        </p:nvSpPr>
        <p:spPr>
          <a:xfrm>
            <a:off x="6391656" y="4983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1B4B"/>
                </a:solidFill>
              </a:rPr>
              <a:t>Remote work</a:t>
            </a:r>
            <a:endParaRPr lang="en-US" sz="2000" dirty="0"/>
          </a:p>
        </p:txBody>
      </p:sp>
      <p:sp>
        <p:nvSpPr>
          <p:cNvPr id="40" name="Text 37"/>
          <p:cNvSpPr txBox="1"/>
          <p:nvPr/>
        </p:nvSpPr>
        <p:spPr>
          <a:xfrm>
            <a:off x="6391656" y="5440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Trends and forecast</a:t>
            </a:r>
            <a:endParaRPr lang="en-US" sz="1400" dirty="0"/>
          </a:p>
        </p:txBody>
      </p:sp>
      <p:sp>
        <p:nvSpPr>
          <p:cNvPr id="41" name="Shape 38"/>
          <p:cNvSpPr/>
          <p:nvPr/>
        </p:nvSpPr>
        <p:spPr>
          <a:xfrm>
            <a:off x="8970264" y="3977640"/>
            <a:ext cx="2606040" cy="2057400"/>
          </a:xfrm>
          <a:prstGeom prst="roundRect">
            <a:avLst>
              <a:gd name="adj" fmla="val 5333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9198864" y="4206240"/>
            <a:ext cx="685800" cy="68580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43" name="Text 40"/>
          <p:cNvSpPr txBox="1"/>
          <p:nvPr/>
        </p:nvSpPr>
        <p:spPr>
          <a:xfrm>
            <a:off x="9198864" y="42062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8</a:t>
            </a:r>
            <a:endParaRPr lang="en-US" sz="2600" dirty="0"/>
          </a:p>
        </p:txBody>
      </p:sp>
      <p:sp>
        <p:nvSpPr>
          <p:cNvPr id="44" name="Text 41"/>
          <p:cNvSpPr txBox="1"/>
          <p:nvPr/>
        </p:nvSpPr>
        <p:spPr>
          <a:xfrm>
            <a:off x="9198864" y="4983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1B4B"/>
                </a:solidFill>
              </a:rPr>
              <a:t>Future scenarios</a:t>
            </a:r>
            <a:endParaRPr lang="en-US" sz="2000" dirty="0"/>
          </a:p>
        </p:txBody>
      </p:sp>
      <p:sp>
        <p:nvSpPr>
          <p:cNvPr id="45" name="Text 42"/>
          <p:cNvSpPr txBox="1"/>
          <p:nvPr/>
        </p:nvSpPr>
        <p:spPr>
          <a:xfrm>
            <a:off x="9198864" y="5440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Pessimistic, base, optimistic</a:t>
            </a:r>
            <a:endParaRPr lang="en-US" sz="1400" dirty="0"/>
          </a:p>
        </p:txBody>
      </p:sp>
      <p:sp>
        <p:nvSpPr>
          <p:cNvPr id="4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00200" y="29260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</a:rPr>
              <a:t>What the data supports</a:t>
            </a:r>
            <a:endParaRPr lang="en-US" sz="3400" dirty="0"/>
          </a:p>
        </p:txBody>
      </p:sp>
      <p:sp>
        <p:nvSpPr>
          <p:cNvPr id="3" name="Title badge"/>
          <p:cNvSpPr/>
          <p:nvPr/>
        </p:nvSpPr>
        <p:spPr>
          <a:xfrm>
            <a:off x="548640" y="329184"/>
            <a:ext cx="822960" cy="82296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4" name="Image 0" descr="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530352"/>
            <a:ext cx="420624" cy="42062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00200" y="102412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Know the limits before reading any trend</a:t>
            </a:r>
            <a:endParaRPr lang="en-US" sz="1400" dirty="0"/>
          </a:p>
        </p:txBody>
      </p:sp>
      <p:sp>
        <p:nvSpPr>
          <p:cNvPr id="6" name="Stat tile"/>
          <p:cNvSpPr/>
          <p:nvPr/>
        </p:nvSpPr>
        <p:spPr>
          <a:xfrm>
            <a:off x="548640" y="164592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1737360"/>
            <a:ext cx="242316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</a:rPr>
              <a:t>57.6%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467966"/>
            <a:ext cx="2423160" cy="510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Hourly share</a:t>
            </a:r>
            <a:endParaRPr lang="en-US" sz="1300" dirty="0"/>
          </a:p>
        </p:txBody>
      </p:sp>
      <p:sp>
        <p:nvSpPr>
          <p:cNvPr id="9" name="Stat tile"/>
          <p:cNvSpPr/>
          <p:nvPr/>
        </p:nvSpPr>
        <p:spPr>
          <a:xfrm>
            <a:off x="3355848" y="164592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447288" y="1737360"/>
            <a:ext cx="242316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</a:rPr>
              <a:t>213</a:t>
            </a:r>
            <a:endParaRPr lang="en-US" sz="4000" dirty="0"/>
          </a:p>
        </p:txBody>
      </p:sp>
      <p:sp>
        <p:nvSpPr>
          <p:cNvPr id="11" name="Text 8"/>
          <p:cNvSpPr txBox="1"/>
          <p:nvPr/>
        </p:nvSpPr>
        <p:spPr>
          <a:xfrm>
            <a:off x="3447288" y="2467966"/>
            <a:ext cx="2423160" cy="510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Countries</a:t>
            </a:r>
            <a:endParaRPr lang="en-US" sz="1300" dirty="0"/>
          </a:p>
        </p:txBody>
      </p:sp>
      <p:sp>
        <p:nvSpPr>
          <p:cNvPr id="12" name="Stat tile"/>
          <p:cNvSpPr/>
          <p:nvPr/>
        </p:nvSpPr>
        <p:spPr>
          <a:xfrm>
            <a:off x="6163056" y="164592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254496" y="1737360"/>
            <a:ext cx="242316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242,360</a:t>
            </a:r>
            <a:endParaRPr lang="en-US" sz="3600" dirty="0"/>
          </a:p>
        </p:txBody>
      </p:sp>
      <p:sp>
        <p:nvSpPr>
          <p:cNvPr id="14" name="Text 11"/>
          <p:cNvSpPr txBox="1"/>
          <p:nvPr/>
        </p:nvSpPr>
        <p:spPr>
          <a:xfrm>
            <a:off x="6254496" y="2467966"/>
            <a:ext cx="2423160" cy="510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Postings in analysis window</a:t>
            </a:r>
            <a:endParaRPr lang="en-US" sz="1300" dirty="0"/>
          </a:p>
        </p:txBody>
      </p:sp>
      <p:sp>
        <p:nvSpPr>
          <p:cNvPr id="15" name="Stat tile"/>
          <p:cNvSpPr/>
          <p:nvPr/>
        </p:nvSpPr>
        <p:spPr>
          <a:xfrm>
            <a:off x="8970264" y="1645920"/>
            <a:ext cx="2651760" cy="1417320"/>
          </a:xfrm>
          <a:prstGeom prst="roundRect">
            <a:avLst>
              <a:gd name="adj" fmla="val 774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061704" y="1737360"/>
            <a:ext cx="246888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102,036</a:t>
            </a:r>
            <a:endParaRPr lang="en-US" sz="3600" dirty="0"/>
          </a:p>
        </p:txBody>
      </p:sp>
      <p:sp>
        <p:nvSpPr>
          <p:cNvPr id="17" name="Text 14"/>
          <p:cNvSpPr txBox="1"/>
          <p:nvPr/>
        </p:nvSpPr>
        <p:spPr>
          <a:xfrm>
            <a:off x="9061704" y="2467966"/>
            <a:ext cx="2468880" cy="510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Valid hourly rates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48640" y="3383280"/>
            <a:ext cx="11064240" cy="2788920"/>
          </a:xfrm>
          <a:prstGeom prst="roundRect">
            <a:avLst>
              <a:gd name="adj" fmla="val 3934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22960" y="3611880"/>
            <a:ext cx="10515600" cy="2468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Only about 5.5 weeks of dense data (13 Feb to 23 Mar 2024); 283 earlier postings are sparse and excluded from trends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"Monthly" tracking is therefore weekly; 15 Feb has a scrape gap (1.8k vs about 6k postings per day)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Outliers handled: 386 hourly rows (over $200/hr) and 77 fixed budgets (raw max $1,000,000)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Categories and remote flags are keyword rules (19.6% of titles stay 'Other'); no description text exists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00200" y="29260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</a:rPr>
              <a:t>Task 1: title keywords vs pay</a:t>
            </a:r>
            <a:endParaRPr lang="en-US" sz="3400" dirty="0"/>
          </a:p>
        </p:txBody>
      </p:sp>
      <p:sp>
        <p:nvSpPr>
          <p:cNvPr id="3" name="Title badge"/>
          <p:cNvSpPr/>
          <p:nvPr/>
        </p:nvSpPr>
        <p:spPr>
          <a:xfrm>
            <a:off x="548640" y="329184"/>
            <a:ext cx="822960" cy="82296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4" name="Image 0" descr="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530352"/>
            <a:ext cx="420624" cy="42062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00200" y="102412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Held-out R² of all keywords: hourly 26%, fixed 20%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5440680" cy="3429000"/>
          </a:xfrm>
          <a:prstGeom prst="roundRect">
            <a:avLst>
              <a:gd name="adj" fmla="val 3200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172200" y="1600200"/>
            <a:ext cx="5440680" cy="3429000"/>
          </a:xfrm>
          <a:prstGeom prst="roundRect">
            <a:avLst>
              <a:gd name="adj" fmla="val 3200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graphicFrame>
        <p:nvGraphicFramePr>
          <p:cNvPr id="8" name="Chart 0"/>
          <p:cNvGraphicFramePr/>
          <p:nvPr/>
        </p:nvGraphicFramePr>
        <p:xfrm>
          <a:off x="640080" y="1645920"/>
          <a:ext cx="5257800" cy="3337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9" name="Chart 1"/>
          <p:cNvGraphicFramePr/>
          <p:nvPr/>
        </p:nvGraphicFramePr>
        <p:xfrm>
          <a:off x="6263640" y="1645920"/>
          <a:ext cx="5257800" cy="3337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0" name="Shape 5"/>
          <p:cNvSpPr/>
          <p:nvPr/>
        </p:nvSpPr>
        <p:spPr>
          <a:xfrm>
            <a:off x="548640" y="525780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822960" y="52578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Specialist words (consultant, engineer, developer) go with higher pay; assistant, virtual and lead-gen wording goes with much lower pay. Titles explain only a fifth to a quarter of pay variance.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00200" y="29260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</a:rPr>
              <a:t>Task 2: emerging and declining categories</a:t>
            </a:r>
            <a:endParaRPr lang="en-US" sz="3400" dirty="0"/>
          </a:p>
        </p:txBody>
      </p:sp>
      <p:sp>
        <p:nvSpPr>
          <p:cNvPr id="3" name="Title badge"/>
          <p:cNvSpPr/>
          <p:nvPr/>
        </p:nvSpPr>
        <p:spPr>
          <a:xfrm>
            <a:off x="548640" y="329184"/>
            <a:ext cx="822960" cy="822960"/>
          </a:xfrm>
          <a:prstGeom prst="ellipse">
            <a:avLst/>
          </a:prstGeom>
          <a:solidFill>
            <a:srgbClr val="DB2777"/>
          </a:solidFill>
          <a:ln/>
        </p:spPr>
      </p:sp>
      <p:pic>
        <p:nvPicPr>
          <p:cNvPr id="4" name="Image 0" descr="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530352"/>
            <a:ext cx="420624" cy="42062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00200" y="102412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13 Feb to 18 Mar 2024 (5 full weeks)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6858000" cy="4572000"/>
          </a:xfrm>
          <a:prstGeom prst="roundRect">
            <a:avLst>
              <a:gd name="adj" fmla="val 2400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graphicFrame>
        <p:nvGraphicFramePr>
          <p:cNvPr id="7" name="Chart 0"/>
          <p:cNvGraphicFramePr/>
          <p:nvPr/>
        </p:nvGraphicFramePr>
        <p:xfrm>
          <a:off x="640080" y="1645920"/>
          <a:ext cx="667512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tat tile"/>
          <p:cNvSpPr/>
          <p:nvPr/>
        </p:nvSpPr>
        <p:spPr>
          <a:xfrm>
            <a:off x="7680960" y="1600200"/>
            <a:ext cx="1920240" cy="1325880"/>
          </a:xfrm>
          <a:prstGeom prst="roundRect">
            <a:avLst>
              <a:gd name="adj" fmla="val 827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772400" y="1691640"/>
            <a:ext cx="1737360" cy="7292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+5.4%</a:t>
            </a:r>
            <a:endParaRPr lang="en-US" sz="3000" dirty="0"/>
          </a:p>
        </p:txBody>
      </p:sp>
      <p:sp>
        <p:nvSpPr>
          <p:cNvPr id="10" name="Text 6"/>
          <p:cNvSpPr txBox="1"/>
          <p:nvPr/>
        </p:nvSpPr>
        <p:spPr>
          <a:xfrm>
            <a:off x="7772400" y="2369210"/>
            <a:ext cx="1737360" cy="477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Video &amp; Audio</a:t>
            </a:r>
            <a:endParaRPr lang="en-US" sz="1300" dirty="0"/>
          </a:p>
        </p:txBody>
      </p:sp>
      <p:sp>
        <p:nvSpPr>
          <p:cNvPr id="11" name="Stat tile"/>
          <p:cNvSpPr/>
          <p:nvPr/>
        </p:nvSpPr>
        <p:spPr>
          <a:xfrm>
            <a:off x="9692640" y="1600200"/>
            <a:ext cx="1920240" cy="1325880"/>
          </a:xfrm>
          <a:prstGeom prst="roundRect">
            <a:avLst>
              <a:gd name="adj" fmla="val 8276"/>
            </a:avLst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9784080" y="1691640"/>
            <a:ext cx="1737360" cy="7292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-12.7%</a:t>
            </a:r>
            <a:endParaRPr lang="en-US" sz="3000" dirty="0"/>
          </a:p>
        </p:txBody>
      </p:sp>
      <p:sp>
        <p:nvSpPr>
          <p:cNvPr id="13" name="Text 9"/>
          <p:cNvSpPr txBox="1"/>
          <p:nvPr/>
        </p:nvSpPr>
        <p:spPr>
          <a:xfrm>
            <a:off x="9784080" y="2369210"/>
            <a:ext cx="1737360" cy="477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Writing &amp; Translation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7680960" y="3108960"/>
            <a:ext cx="3931920" cy="3063240"/>
          </a:xfrm>
          <a:prstGeom prst="roundRect">
            <a:avLst>
              <a:gd name="adj" fmla="val 3582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863840" y="3246120"/>
            <a:ext cx="3611880" cy="2834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Emerging: Video &amp; Audio (p=0.006)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Declining: Writing &amp; Translation (p=0.0003), Admin/VA (-5.9%, p=0.03)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Rising keywords: crypto +49%, js +35%, facebook +25%, ads +18%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Only the Writing decline survives a Bonferroni correction across 12 categories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00200" y="29260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</a:rPr>
              <a:t>Task 3: predicting high-demand roles</a:t>
            </a:r>
            <a:endParaRPr lang="en-US" sz="3400" dirty="0"/>
          </a:p>
        </p:txBody>
      </p:sp>
      <p:sp>
        <p:nvSpPr>
          <p:cNvPr id="3" name="Title badge"/>
          <p:cNvSpPr/>
          <p:nvPr/>
        </p:nvSpPr>
        <p:spPr>
          <a:xfrm>
            <a:off x="548640" y="329184"/>
            <a:ext cx="822960" cy="822960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4" name="Image 0" descr="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530352"/>
            <a:ext cx="420624" cy="42062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00200" y="102412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Train 20 Feb to 18 Mar 2024, test 19 to 23 Mar 2024 (5-day recursive forecast)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4937760" cy="3154680"/>
          </a:xfrm>
          <a:prstGeom prst="roundRect">
            <a:avLst>
              <a:gd name="adj" fmla="val 3478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graphicFrame>
        <p:nvGraphicFramePr>
          <p:cNvPr id="7" name="Chart 0"/>
          <p:cNvGraphicFramePr/>
          <p:nvPr/>
        </p:nvGraphicFramePr>
        <p:xfrm>
          <a:off x="640080" y="1645920"/>
          <a:ext cx="4754880" cy="3063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1600200"/>
          <a:ext cx="5852160" cy="9144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Next 14 d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vs last 14 d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1B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Other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17,321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0D9488"/>
                          </a:solidFill>
                        </a:rPr>
                        <a:t>+3.4%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Web &amp; Software Dev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17,110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0D9488"/>
                          </a:solidFill>
                        </a:rPr>
                        <a:t>+1.3%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Design &amp; Creative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12,256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0D9488"/>
                          </a:solidFill>
                        </a:rPr>
                        <a:t>+0.4%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Video &amp; Audio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10,038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0D9488"/>
                          </a:solidFill>
                        </a:rPr>
                        <a:t>+3.2%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Writing &amp; Translation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6,145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E11D48"/>
                          </a:solidFill>
                        </a:rPr>
                        <a:t>-8.6%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Social Media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4,647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E11D48"/>
                          </a:solidFill>
                        </a:rPr>
                        <a:t>-1.7%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Shape 4"/>
          <p:cNvSpPr/>
          <p:nvPr/>
        </p:nvSpPr>
        <p:spPr>
          <a:xfrm>
            <a:off x="548640" y="4983480"/>
            <a:ext cx="11064240" cy="1188720"/>
          </a:xfrm>
          <a:prstGeom prst="roundRect">
            <a:avLst>
              <a:gd name="adj" fmla="val 9231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822960" y="49834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</a:rPr>
              <a:t>Category ranking predicted almost perfectly (Spearman 0.99, top-3 correct), but the simple seasonal baseline is as accurate as the ML models.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</a:rPr>
              <a:t>With 5 weeks of data, weekly seasonality explains nearly everything; the ensemble gives the lowest MAE (30.6 vs 33.1).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00200" y="29260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</a:rPr>
              <a:t>Task 4: hourly rates by client country</a:t>
            </a:r>
            <a:endParaRPr lang="en-US" sz="3400" dirty="0"/>
          </a:p>
        </p:txBody>
      </p:sp>
      <p:sp>
        <p:nvSpPr>
          <p:cNvPr id="3" name="Title badge"/>
          <p:cNvSpPr/>
          <p:nvPr/>
        </p:nvSpPr>
        <p:spPr>
          <a:xfrm>
            <a:off x="548640" y="329184"/>
            <a:ext cx="822960" cy="82296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4" name="Image 0" descr="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530352"/>
            <a:ext cx="420624" cy="42062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00200" y="102412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Median $/hr, countries with 200+ rated jobs; interactive map and bar chart delivered as HTML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6766560" cy="4572000"/>
          </a:xfrm>
          <a:prstGeom prst="roundRect">
            <a:avLst>
              <a:gd name="adj" fmla="val 2400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graphicFrame>
        <p:nvGraphicFramePr>
          <p:cNvPr id="7" name="Chart 0"/>
          <p:cNvGraphicFramePr/>
          <p:nvPr/>
        </p:nvGraphicFramePr>
        <p:xfrm>
          <a:off x="640080" y="1645920"/>
          <a:ext cx="658368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tat tile"/>
          <p:cNvSpPr/>
          <p:nvPr/>
        </p:nvSpPr>
        <p:spPr>
          <a:xfrm>
            <a:off x="7589520" y="1600200"/>
            <a:ext cx="1965960" cy="1371600"/>
          </a:xfrm>
          <a:prstGeom prst="round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680960" y="1691640"/>
            <a:ext cx="178308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$22.5</a:t>
            </a:r>
            <a:endParaRPr lang="en-US" sz="3200" dirty="0"/>
          </a:p>
        </p:txBody>
      </p:sp>
      <p:sp>
        <p:nvSpPr>
          <p:cNvPr id="10" name="Text 6"/>
          <p:cNvSpPr txBox="1"/>
          <p:nvPr/>
        </p:nvSpPr>
        <p:spPr>
          <a:xfrm>
            <a:off x="7680960" y="2395728"/>
            <a:ext cx="1783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Overall median per hour</a:t>
            </a:r>
            <a:endParaRPr lang="en-US" sz="1300" dirty="0"/>
          </a:p>
        </p:txBody>
      </p:sp>
      <p:sp>
        <p:nvSpPr>
          <p:cNvPr id="11" name="Stat tile"/>
          <p:cNvSpPr/>
          <p:nvPr/>
        </p:nvSpPr>
        <p:spPr>
          <a:xfrm>
            <a:off x="9646920" y="1600200"/>
            <a:ext cx="1965960" cy="1371600"/>
          </a:xfrm>
          <a:prstGeom prst="roundRect">
            <a:avLst>
              <a:gd name="adj" fmla="val 8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9738360" y="1691640"/>
            <a:ext cx="178308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$25</a:t>
            </a:r>
            <a:endParaRPr lang="en-US" sz="3200" dirty="0"/>
          </a:p>
        </p:txBody>
      </p:sp>
      <p:sp>
        <p:nvSpPr>
          <p:cNvPr id="13" name="Text 9"/>
          <p:cNvSpPr txBox="1"/>
          <p:nvPr/>
        </p:nvSpPr>
        <p:spPr>
          <a:xfrm>
            <a:off x="9738360" y="2395728"/>
            <a:ext cx="1783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US median (n=47,975)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7589520" y="3154680"/>
            <a:ext cx="4023360" cy="3017520"/>
          </a:xfrm>
          <a:prstGeom prst="roundRect">
            <a:avLst>
              <a:gd name="adj" fmla="val 3636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772400" y="3291840"/>
            <a:ext cx="3611880" cy="2834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Overall mean $27.98; US mean $30.70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Country effect is significant (Kruskal-Wallis H=2,220, p&lt;0.001)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Lowest: South Korea $10, Philippines $11, Japan $15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Top countries are a near-tie with wide intervals; Philippines mean is 2x its median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00200" y="29260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</a:rPr>
              <a:t>Task 5: job recommendation engine</a:t>
            </a:r>
            <a:endParaRPr lang="en-US" sz="3400" dirty="0"/>
          </a:p>
        </p:txBody>
      </p:sp>
      <p:sp>
        <p:nvSpPr>
          <p:cNvPr id="3" name="Title badge"/>
          <p:cNvSpPr/>
          <p:nvPr/>
        </p:nvSpPr>
        <p:spPr>
          <a:xfrm>
            <a:off x="548640" y="329184"/>
            <a:ext cx="822960" cy="82296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4" name="Image 0" descr="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530352"/>
            <a:ext cx="420624" cy="42062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00200" y="102412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TF-IDF title matching + filters + recency, served by a Flask API and web UI</a:t>
            </a:r>
            <a:endParaRPr lang="en-US" sz="1400" dirty="0"/>
          </a:p>
        </p:txBody>
      </p:sp>
      <p:sp>
        <p:nvSpPr>
          <p:cNvPr id="6" name="Stat tile"/>
          <p:cNvSpPr/>
          <p:nvPr/>
        </p:nvSpPr>
        <p:spPr>
          <a:xfrm>
            <a:off x="548640" y="1600200"/>
            <a:ext cx="3566160" cy="1280160"/>
          </a:xfrm>
          <a:prstGeom prst="roundRect">
            <a:avLst>
              <a:gd name="adj" fmla="val 8571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1691640"/>
            <a:ext cx="33832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</a:rPr>
              <a:t>0.96</a:t>
            </a:r>
            <a:endParaRPr lang="en-US" sz="38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342693"/>
            <a:ext cx="3383280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Hit-rate@10 (400 test profiles)</a:t>
            </a:r>
            <a:endParaRPr lang="en-US" sz="1300" dirty="0"/>
          </a:p>
        </p:txBody>
      </p:sp>
      <p:sp>
        <p:nvSpPr>
          <p:cNvPr id="9" name="Stat tile"/>
          <p:cNvSpPr/>
          <p:nvPr/>
        </p:nvSpPr>
        <p:spPr>
          <a:xfrm>
            <a:off x="4297680" y="1600200"/>
            <a:ext cx="3566160" cy="1280160"/>
          </a:xfrm>
          <a:prstGeom prst="roundRect">
            <a:avLst>
              <a:gd name="adj" fmla="val 8571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389120" y="1691640"/>
            <a:ext cx="33832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</a:rPr>
              <a:t>0.65</a:t>
            </a:r>
            <a:endParaRPr lang="en-US" sz="3800" dirty="0"/>
          </a:p>
        </p:txBody>
      </p:sp>
      <p:sp>
        <p:nvSpPr>
          <p:cNvPr id="11" name="Text 8"/>
          <p:cNvSpPr txBox="1"/>
          <p:nvPr/>
        </p:nvSpPr>
        <p:spPr>
          <a:xfrm>
            <a:off x="4389120" y="2342693"/>
            <a:ext cx="3383280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nDCG@10</a:t>
            </a:r>
            <a:endParaRPr lang="en-US" sz="1300" dirty="0"/>
          </a:p>
        </p:txBody>
      </p:sp>
      <p:sp>
        <p:nvSpPr>
          <p:cNvPr id="12" name="Stat tile"/>
          <p:cNvSpPr/>
          <p:nvPr/>
        </p:nvSpPr>
        <p:spPr>
          <a:xfrm>
            <a:off x="8046720" y="1600200"/>
            <a:ext cx="3566160" cy="1280160"/>
          </a:xfrm>
          <a:prstGeom prst="roundRect">
            <a:avLst>
              <a:gd name="adj" fmla="val 857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138160" y="1691640"/>
            <a:ext cx="33832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</a:rPr>
              <a:t>~0.1 s</a:t>
            </a:r>
            <a:endParaRPr lang="en-US" sz="3800" dirty="0"/>
          </a:p>
        </p:txBody>
      </p:sp>
      <p:sp>
        <p:nvSpPr>
          <p:cNvPr id="14" name="Text 11"/>
          <p:cNvSpPr txBox="1"/>
          <p:nvPr/>
        </p:nvSpPr>
        <p:spPr>
          <a:xfrm>
            <a:off x="8138160" y="2342693"/>
            <a:ext cx="3383280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per query (244,545 postings)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48640" y="3108960"/>
            <a:ext cx="4754880" cy="3063240"/>
          </a:xfrm>
          <a:prstGeom prst="roundRect">
            <a:avLst>
              <a:gd name="adj" fmla="val 3582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graphicFrame>
        <p:nvGraphicFramePr>
          <p:cNvPr id="16" name="Chart 0"/>
          <p:cNvGraphicFramePr/>
          <p:nvPr/>
        </p:nvGraphicFramePr>
        <p:xfrm>
          <a:off x="640080" y="3154680"/>
          <a:ext cx="4572000" cy="2971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7" name="Shape 13"/>
          <p:cNvSpPr/>
          <p:nvPr/>
        </p:nvSpPr>
        <p:spPr>
          <a:xfrm>
            <a:off x="5486400" y="3108960"/>
            <a:ext cx="6126480" cy="3063240"/>
          </a:xfrm>
          <a:prstGeom prst="roundRect">
            <a:avLst>
              <a:gd name="adj" fmla="val 3582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5715000" y="3291840"/>
            <a:ext cx="5715000" cy="2834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Index: 244,545 postings, 35,835 terms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Filters: contract type, country, category, min $/hr, min fixed budget, explicit remote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Endpoints: /api/recommend, /api/meta, /api/metrics, /api/health (docs/API.md)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Limit: titles only, no click data; relevance is topical, not validated with users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00200" y="29260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</a:rPr>
              <a:t>Task 6: monthly dashboard</a:t>
            </a:r>
            <a:endParaRPr lang="en-US" sz="3400" dirty="0"/>
          </a:p>
        </p:txBody>
      </p:sp>
      <p:sp>
        <p:nvSpPr>
          <p:cNvPr id="3" name="Title badge"/>
          <p:cNvSpPr/>
          <p:nvPr/>
        </p:nvSpPr>
        <p:spPr>
          <a:xfrm>
            <a:off x="548640" y="329184"/>
            <a:ext cx="822960" cy="82296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4" name="Image 0" descr="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530352"/>
            <a:ext cx="420624" cy="42062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00200" y="102412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dashboard.html, regenerated on the 1st of each month by the scheduler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9144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Days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Postings/day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Hourly share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Mean $/hr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Median fixed $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Remote wording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Non-US clients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2937"/>
                          </a:solidFill>
                        </a:rPr>
                        <a:t>2024-02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17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5,983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58.3%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$28.03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$100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0.56%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57.1%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2937"/>
                          </a:solidFill>
                        </a:rPr>
                        <a:t>2024-03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23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6,115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57.0%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$28.01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$100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0.57%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57.1%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3429000"/>
            <a:ext cx="3566160" cy="2743200"/>
          </a:xfrm>
          <a:prstGeom prst="roundRect">
            <a:avLst>
              <a:gd name="adj" fmla="val 4000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777240" y="3611880"/>
            <a:ext cx="640080" cy="64008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9" name="Image 1" descr="Dashboard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3767328"/>
            <a:ext cx="329184" cy="329184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554480" y="36118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563EB"/>
                </a:solidFill>
              </a:rPr>
              <a:t>Dashboard</a:t>
            </a:r>
            <a:endParaRPr lang="en-US" sz="2000" dirty="0"/>
          </a:p>
        </p:txBody>
      </p:sp>
      <p:sp>
        <p:nvSpPr>
          <p:cNvPr id="6" name="Text 6"/>
          <p:cNvSpPr txBox="1"/>
          <p:nvPr/>
        </p:nvSpPr>
        <p:spPr>
          <a:xfrm>
            <a:off x="777240" y="4389120"/>
            <a:ext cx="3154680" cy="1737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KPI cards: last 7 days vs prior 7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Daily volume with range buttons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Weekly category mix, pay trends, top countries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4297680" y="3429000"/>
            <a:ext cx="3566160" cy="2743200"/>
          </a:xfrm>
          <a:prstGeom prst="roundRect">
            <a:avLst>
              <a:gd name="adj" fmla="val 4000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4526280" y="3611880"/>
            <a:ext cx="640080" cy="640080"/>
          </a:xfrm>
          <a:prstGeom prst="ellipse">
            <a:avLst/>
          </a:prstGeom>
          <a:solidFill>
            <a:srgbClr val="DB2777"/>
          </a:solidFill>
          <a:ln/>
        </p:spPr>
      </p:sp>
      <p:pic>
        <p:nvPicPr>
          <p:cNvPr id="14" name="Image 2" descr="Month to month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1728" y="3767328"/>
            <a:ext cx="329184" cy="32918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5303520" y="36118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B2777"/>
                </a:solidFill>
              </a:rPr>
              <a:t>Month to month</a:t>
            </a:r>
            <a:endParaRPr lang="en-US" sz="2000" dirty="0"/>
          </a:p>
        </p:txBody>
      </p:sp>
      <p:sp>
        <p:nvSpPr>
          <p:cNvPr id="16" name="Text 10"/>
          <p:cNvSpPr txBox="1"/>
          <p:nvPr/>
        </p:nvSpPr>
        <p:spPr>
          <a:xfrm>
            <a:off x="4526280" y="4389120"/>
            <a:ext cx="3154680" cy="1737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+2.2% postings per day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-0.1% mean hourly rate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Changes between months are small</a:t>
            </a:r>
            <a:endParaRPr lang="en-US" sz="1500" dirty="0"/>
          </a:p>
        </p:txBody>
      </p:sp>
      <p:sp>
        <p:nvSpPr>
          <p:cNvPr id="17" name="Shape 11"/>
          <p:cNvSpPr/>
          <p:nvPr/>
        </p:nvSpPr>
        <p:spPr>
          <a:xfrm>
            <a:off x="8046720" y="3429000"/>
            <a:ext cx="3566160" cy="2743200"/>
          </a:xfrm>
          <a:prstGeom prst="roundRect">
            <a:avLst>
              <a:gd name="adj" fmla="val 4000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8275320" y="361188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9" name="Image 3" descr="Auto-update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0768" y="3767328"/>
            <a:ext cx="329184" cy="329184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9052560" y="36118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9488"/>
                </a:solidFill>
              </a:rPr>
              <a:t>Auto-update</a:t>
            </a:r>
            <a:endParaRPr lang="en-US" sz="2000" dirty="0"/>
          </a:p>
        </p:txBody>
      </p:sp>
      <p:sp>
        <p:nvSpPr>
          <p:cNvPr id="21" name="Text 14"/>
          <p:cNvSpPr txBox="1"/>
          <p:nvPr/>
        </p:nvSpPr>
        <p:spPr>
          <a:xfrm>
            <a:off x="8275320" y="4389120"/>
            <a:ext cx="3154680" cy="1737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Drop a new data.csv in data/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Scheduler container re-runs the pipeline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Runs at start and on the 1st of each month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00200" y="29260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</a:rPr>
              <a:t>Deployment and deliverables</a:t>
            </a:r>
            <a:endParaRPr lang="en-US" sz="3400" dirty="0"/>
          </a:p>
        </p:txBody>
      </p:sp>
      <p:sp>
        <p:nvSpPr>
          <p:cNvPr id="3" name="Title badge"/>
          <p:cNvSpPr/>
          <p:nvPr/>
        </p:nvSpPr>
        <p:spPr>
          <a:xfrm>
            <a:off x="548640" y="329184"/>
            <a:ext cx="822960" cy="82296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4" name="Image 0" descr="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530352"/>
            <a:ext cx="420624" cy="42062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00200" y="102412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Docker Compose: three services sharing one output volume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1901952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Service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Image / file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Role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</a:rPr>
                        <a:t>web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nginx/Dockerfile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Reverse proxy on :8080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</a:rPr>
                        <a:t>app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Dockerfile.app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gunicorn + Flask API, UI, dashboard hosting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</a:rPr>
                        <a:t>scheduler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Dockerfile.scheduler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Runs pipeline at start and on the 1st of each month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3749040"/>
            <a:ext cx="5486400" cy="2423160"/>
          </a:xfrm>
          <a:prstGeom prst="roundRect">
            <a:avLst>
              <a:gd name="adj" fmla="val 4528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822960" y="38404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BBF24"/>
                </a:solidFill>
              </a:rPr>
              <a:t>Run it</a:t>
            </a:r>
            <a:endParaRPr lang="en-US" sz="2000" dirty="0"/>
          </a:p>
        </p:txBody>
      </p:sp>
      <p:sp>
        <p:nvSpPr>
          <p:cNvPr id="9" name="Text 5"/>
          <p:cNvSpPr txBox="1"/>
          <p:nvPr/>
        </p:nvSpPr>
        <p:spPr>
          <a:xfrm>
            <a:off x="822960" y="4343400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build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up -d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http://localhost:8080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6217920" y="3749040"/>
            <a:ext cx="5394960" cy="2423160"/>
          </a:xfrm>
          <a:prstGeom prst="roundRect">
            <a:avLst>
              <a:gd name="adj" fmla="val 4528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446520" y="38404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563EB"/>
                </a:solidFill>
              </a:rPr>
              <a:t>Reproducible and tested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6446520" y="4343400"/>
            <a:ext cx="4983480" cy="1783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python -m jobmarket.pipeline writes figures, tables and metrics.json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pytest tests/ covers API validation and filtering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Built with Python, Scikit-Learn, Flask, gunicorn and nginx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00200" y="29260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</a:rPr>
              <a:t>Limitations and next steps</a:t>
            </a:r>
            <a:endParaRPr lang="en-US" sz="3400" dirty="0"/>
          </a:p>
        </p:txBody>
      </p:sp>
      <p:sp>
        <p:nvSpPr>
          <p:cNvPr id="3" name="Title badge"/>
          <p:cNvSpPr/>
          <p:nvPr/>
        </p:nvSpPr>
        <p:spPr>
          <a:xfrm>
            <a:off x="548640" y="329184"/>
            <a:ext cx="822960" cy="822960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4" name="Image 0" descr="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530352"/>
            <a:ext cx="420624" cy="42062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00200" y="102412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Honest limits, and how the next months improve them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1645920"/>
            <a:ext cx="5394960" cy="4526280"/>
          </a:xfrm>
          <a:prstGeom prst="roundRect">
            <a:avLst>
              <a:gd name="adj" fmla="val 2424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22960" y="1828800"/>
            <a:ext cx="685800" cy="685800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8" name="Image 1" descr="Limitations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408" y="1984248"/>
            <a:ext cx="365760" cy="3657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91640" y="182880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97706"/>
                </a:solidFill>
              </a:rPr>
              <a:t>Limitations</a:t>
            </a:r>
            <a:endParaRPr lang="en-US" sz="24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2834640"/>
            <a:ext cx="4892040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Five weeks of data: trends are indicative, not seasonal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Categories and remote flags are rule-based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Recommender is title-only and evaluated offline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Forecast accuracy measured on a 5-day holdout</a:t>
            </a:r>
            <a:endParaRPr lang="en-US" sz="1900" dirty="0"/>
          </a:p>
        </p:txBody>
      </p:sp>
      <p:sp>
        <p:nvSpPr>
          <p:cNvPr id="11" name="Shape 7"/>
          <p:cNvSpPr/>
          <p:nvPr/>
        </p:nvSpPr>
        <p:spPr>
          <a:xfrm>
            <a:off x="6217920" y="1645920"/>
            <a:ext cx="5394960" cy="4526280"/>
          </a:xfrm>
          <a:prstGeom prst="roundRect">
            <a:avLst>
              <a:gd name="adj" fmla="val 2424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92240" y="1828800"/>
            <a:ext cx="685800" cy="6858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3" name="Image 2" descr="Next steps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7688" y="1984248"/>
            <a:ext cx="365760" cy="36576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360920" y="182880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9488"/>
                </a:solidFill>
              </a:rPr>
              <a:t>Next steps</a:t>
            </a:r>
            <a:endParaRPr lang="en-US" sz="2400" dirty="0"/>
          </a:p>
        </p:txBody>
      </p:sp>
      <p:sp>
        <p:nvSpPr>
          <p:cNvPr id="15" name="Text 10"/>
          <p:cNvSpPr txBox="1"/>
          <p:nvPr/>
        </p:nvSpPr>
        <p:spPr>
          <a:xfrm>
            <a:off x="6492240" y="2834640"/>
            <a:ext cx="4892040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Collect several months of data before drawing seasonal conclusions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Use job descriptions for better skill and remote detection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Add user feedback (clicks, applies) to validate and personalise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Monthly refresh enables real month-over-month and seasonal models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097280"/>
            <a:ext cx="4754880" cy="4754880"/>
          </a:xfrm>
          <a:prstGeom prst="ellipse">
            <a:avLst/>
          </a:prstGeom>
          <a:solidFill>
            <a:srgbClr val="7C3AED">
              <a:alpha val="7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280160" y="4206240"/>
            <a:ext cx="4206240" cy="4206240"/>
          </a:xfrm>
          <a:prstGeom prst="ellipse">
            <a:avLst/>
          </a:prstGeom>
          <a:solidFill>
            <a:srgbClr val="DB2777">
              <a:alpha val="75000"/>
            </a:srgbClr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26880" y="4023360"/>
            <a:ext cx="2468880" cy="2468880"/>
          </a:xfrm>
          <a:prstGeom prst="ellipse">
            <a:avLst/>
          </a:prstGeom>
          <a:solidFill>
            <a:srgbClr val="D97706">
              <a:alpha val="80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0" y="4846320"/>
            <a:ext cx="1280160" cy="1280160"/>
          </a:xfrm>
          <a:prstGeom prst="ellipse">
            <a:avLst/>
          </a:prstGeom>
          <a:solidFill>
            <a:srgbClr val="0D9488">
              <a:alpha val="90000"/>
            </a:srgbClr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6" name="Image 0" descr="Smile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4754880"/>
            <a:ext cx="1005840" cy="10058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14400" y="182880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rgbClr val="FFFFFF"/>
                </a:solidFill>
              </a:rPr>
              <a:t>Thank you</a:t>
            </a:r>
            <a:endParaRPr lang="en-US" sz="66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2461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C7D2FE"/>
                </a:solidFill>
              </a:rPr>
              <a:t>Questions and discussion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43434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FFFFFF"/>
                </a:solidFill>
              </a:rPr>
              <a:t>NIDHI SILMANA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49377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300" dirty="0">
                <a:solidFill>
                  <a:srgbClr val="FBBF24"/>
                </a:solidFill>
              </a:rPr>
              <a:t>NEXTHIKES IT SOLUTION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xthikes Bright">
  <a:themeElements>
    <a:clrScheme name="Nexthikes Bright">
      <a:dk1>
        <a:srgbClr val="1F2937"/>
      </a:dk1>
      <a:lt1>
        <a:srgbClr val="FFFFFF"/>
      </a:lt1>
      <a:dk2>
        <a:srgbClr val="1E1B4B"/>
      </a:dk2>
      <a:lt2>
        <a:srgbClr val="F5F3FF"/>
      </a:lt2>
      <a:accent1>
        <a:srgbClr val="4F46E5"/>
      </a:accent1>
      <a:accent2>
        <a:srgbClr val="DB2777"/>
      </a:accent2>
      <a:accent3>
        <a:srgbClr val="D97706"/>
      </a:accent3>
      <a:accent4>
        <a:srgbClr val="0D9488"/>
      </a:accent4>
      <a:accent5>
        <a:srgbClr val="7C3AED"/>
      </a:accent5>
      <a:accent6>
        <a:srgbClr val="E11D48"/>
      </a:accent6>
      <a:hlink>
        <a:srgbClr val="4F46E5"/>
      </a:hlink>
      <a:folHlink>
        <a:srgbClr val="7C3AED"/>
      </a:folHlink>
    </a:clrScheme>
    <a:fontScheme name="Nexthikes Bright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1166</Words>
  <Application>Microsoft Office PowerPoint</Application>
  <PresentationFormat>Widescreen</PresentationFormat>
  <Paragraphs>226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Courier New</vt:lpstr>
      <vt:lpstr>Nexthikes Bright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Nexthikes IT Solution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Job Market Analysis and Recommendation System</dc:title>
  <dc:subject>PptxGenJS Presentation</dc:subject>
  <dc:creator>Aksa Pathan</dc:creator>
  <cp:lastModifiedBy>sachin silmana</cp:lastModifiedBy>
  <cp:revision>3</cp:revision>
  <dcterms:created xsi:type="dcterms:W3CDTF">2026-10-14T10:00:18Z</dcterms:created>
  <dcterms:modified xsi:type="dcterms:W3CDTF">2026-10-14T12:09:47Z</dcterms:modified>
</cp:coreProperties>
</file>